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处理时间</c:v>
                </c:pt>
              </c:strCache>
            </c:strRef>
          </c:tx>
          <c:spPr>
            <a:solidFill>
              <a:srgbClr val="D670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手工处理</c:v>
                </c:pt>
                <c:pt idx="1">
                  <c:v>自动生成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0.15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3657600" y="1645920"/>
            <a:ext cx="5029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肠癌基因检测报告</a:t>
            </a:r>
            <a:endParaRPr lang="en-US" sz="36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自动化生成系统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0" y="3657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 → Word 智能报告生成解决方案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4206240"/>
            <a:ext cx="1828800" cy="45720"/>
          </a:xfrm>
          <a:prstGeom prst="rect">
            <a:avLst/>
          </a:prstGeom>
          <a:solidFill>
            <a:srgbClr val="F0B857"/>
          </a:solidFill>
        </p:spPr>
      </p:sp>
      <p:sp>
        <p:nvSpPr>
          <p:cNvPr id="6" name="Text 4"/>
          <p:cNvSpPr/>
          <p:nvPr/>
        </p:nvSpPr>
        <p:spPr>
          <a:xfrm>
            <a:off x="3657600" y="44805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2025-12-09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为什么需要自动化？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737360"/>
            <a:ext cx="914400" cy="91440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6" name="Text 4"/>
          <p:cNvSpPr/>
          <p:nvPr/>
        </p:nvSpPr>
        <p:spPr>
          <a:xfrm>
            <a:off x="1554480" y="187452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手动填写耗时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每份报告需要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30-60分钟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37360"/>
            <a:ext cx="914400" cy="91440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11" name="Text 9"/>
          <p:cNvSpPr/>
          <p:nvPr/>
        </p:nvSpPr>
        <p:spPr>
          <a:xfrm>
            <a:off x="4389120" y="187452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人工易出错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数据转录错误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格式不一致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737360"/>
            <a:ext cx="914400" cy="91440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16" name="Text 14"/>
          <p:cNvSpPr/>
          <p:nvPr/>
        </p:nvSpPr>
        <p:spPr>
          <a:xfrm>
            <a:off x="7223760" y="187452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重复劳动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大量机械性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复制粘贴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我们的解决方案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2C4A6E"/>
          </a:solidFill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Excel 一键生成 Word 报告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70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5-10秒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单份报告生成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原需30-60分钟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5603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74320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70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数据准确率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931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自动字段映射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5603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74320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70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批量处理能力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份/批次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0B857"/>
          </a:solidFill>
        </p:spPr>
      </p:sp>
      <p:sp>
        <p:nvSpPr>
          <p:cNvPr id="5" name="Text 3"/>
          <p:cNvSpPr/>
          <p:nvPr/>
        </p:nvSpPr>
        <p:spPr>
          <a:xfrm>
            <a:off x="27432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8E5DE"/>
          </a:solidFill>
        </p:spPr>
      </p:sp>
      <p:sp>
        <p:nvSpPr>
          <p:cNvPr id="8" name="Text 6"/>
          <p:cNvSpPr/>
          <p:nvPr/>
        </p:nvSpPr>
        <p:spPr>
          <a:xfrm>
            <a:off x="173736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数据读取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5087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8E5DE"/>
          </a:solidFill>
        </p:spPr>
      </p:sp>
      <p:sp>
        <p:nvSpPr>
          <p:cNvPr id="11" name="Text 9"/>
          <p:cNvSpPr/>
          <p:nvPr/>
        </p:nvSpPr>
        <p:spPr>
          <a:xfrm>
            <a:off x="320040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字段映射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5087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8E5DE"/>
          </a:solidFill>
        </p:spPr>
      </p:sp>
      <p:sp>
        <p:nvSpPr>
          <p:cNvPr id="14" name="Text 12"/>
          <p:cNvSpPr/>
          <p:nvPr/>
        </p:nvSpPr>
        <p:spPr>
          <a:xfrm>
            <a:off x="466344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数据过滤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5087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E8E5DE"/>
          </a:solidFill>
        </p:spPr>
      </p:sp>
      <p:sp>
        <p:nvSpPr>
          <p:cNvPr id="17" name="Text 15"/>
          <p:cNvSpPr/>
          <p:nvPr/>
        </p:nvSpPr>
        <p:spPr>
          <a:xfrm>
            <a:off x="612648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模板渲染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1508760"/>
            <a:ext cx="274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14630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</p:spPr>
      </p:sp>
      <p:sp>
        <p:nvSpPr>
          <p:cNvPr id="20" name="Text 18"/>
          <p:cNvSpPr/>
          <p:nvPr/>
        </p:nvSpPr>
        <p:spPr>
          <a:xfrm>
            <a:off x="7589520" y="146304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Word报告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1752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3.9+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01752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docxtpl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01752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01752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pandas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57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openpyxl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6576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657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Jinja2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6576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657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Click CLI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数据处理流程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5448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67052"/>
          </a:solidFill>
        </p:spPr>
      </p:sp>
      <p:sp>
        <p:nvSpPr>
          <p:cNvPr id="6" name="Text 4"/>
          <p:cNvSpPr/>
          <p:nvPr/>
        </p:nvSpPr>
        <p:spPr>
          <a:xfrm>
            <a:off x="1005840" y="15544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读取Excel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4A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131行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原始数据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37744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B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5448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67052"/>
          </a:solidFill>
        </p:spPr>
      </p:sp>
      <p:sp>
        <p:nvSpPr>
          <p:cNvPr id="13" name="Text 11"/>
          <p:cNvSpPr/>
          <p:nvPr/>
        </p:nvSpPr>
        <p:spPr>
          <a:xfrm>
            <a:off x="3200400" y="15544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1031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智能过滤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6517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4A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56行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51760" y="3291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通过筛选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B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55448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67052"/>
          </a:solidFill>
        </p:spPr>
      </p:sp>
      <p:sp>
        <p:nvSpPr>
          <p:cNvPr id="20" name="Text 18"/>
          <p:cNvSpPr/>
          <p:nvPr/>
        </p:nvSpPr>
        <p:spPr>
          <a:xfrm>
            <a:off x="5394960" y="15544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字段映射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4A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9列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846320" y="3291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数据字段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37744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B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040880" y="137160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155448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D67052"/>
          </a:solidFill>
        </p:spPr>
      </p:sp>
      <p:sp>
        <p:nvSpPr>
          <p:cNvPr id="27" name="Text 25"/>
          <p:cNvSpPr/>
          <p:nvPr/>
        </p:nvSpPr>
        <p:spPr>
          <a:xfrm>
            <a:off x="7589520" y="15544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1031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模板渲染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6517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4A6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Word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040880" y="32918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生成报告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E8E5DE"/>
          </a:solidFill>
        </p:spPr>
      </p:sp>
      <p:sp>
        <p:nvSpPr>
          <p:cNvPr id="32" name="Text 3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过滤逻辑: 频率 ≥ 5%  OR  临床显著突变类型 (Missense/Nonsense/Frameshift/Splice)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多Sheet智能解析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Variations (变异)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TMB / MSI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HLA / CNV / Fusion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73152" cy="155448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12" name="Text 10"/>
          <p:cNvSpPr/>
          <p:nvPr/>
        </p:nvSpPr>
        <p:spPr>
          <a:xfrm>
            <a:off x="5029200" y="14173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灵活过滤规则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7830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频率阈值可配置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临床显著性筛选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OR逻辑组合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18" name="Text 16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同义词字段映射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自动识别列名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多语言支持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配置驱动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17520"/>
            <a:ext cx="73152" cy="155448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24" name="Text 22"/>
          <p:cNvSpPr/>
          <p:nvPr/>
        </p:nvSpPr>
        <p:spPr>
          <a:xfrm>
            <a:off x="5029200" y="31546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动态表格生成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520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行数随数据变化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84048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Jinja2模板引擎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1605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格式自动继承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效果对比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手工处理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30-60分钟/份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易出错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格式不一致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✗ 重复劳动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自动生成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AA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5-10秒/份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AA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100%准确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AA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标准化格式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AA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批量处理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914400" y="3657600"/>
          <a:ext cx="73152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7315200" y="4709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单位: 分钟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如何使用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645920"/>
            <a:ext cx="731520" cy="73152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6" name="Text 4"/>
          <p:cNvSpPr/>
          <p:nvPr/>
        </p:nvSpPr>
        <p:spPr>
          <a:xfrm>
            <a:off x="1463040" y="169164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准备Excel文件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将检测结果Excel文件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放入 data/input/ 目录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46888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B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45920"/>
            <a:ext cx="731520" cy="73152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12" name="Text 10"/>
          <p:cNvSpPr/>
          <p:nvPr/>
        </p:nvSpPr>
        <p:spPr>
          <a:xfrm>
            <a:off x="4389120" y="169164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执行生成命令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python3 -m reportgen.cli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 --excel ... --template 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0B85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1645920"/>
            <a:ext cx="731520" cy="731520"/>
          </a:xfrm>
          <a:prstGeom prst="ellipse">
            <a:avLst/>
          </a:prstGeom>
          <a:solidFill>
            <a:srgbClr val="D67052"/>
          </a:solidFill>
        </p:spPr>
      </p:sp>
      <p:sp>
        <p:nvSpPr>
          <p:cNvPr id="18" name="Text 16"/>
          <p:cNvSpPr/>
          <p:nvPr/>
        </p:nvSpPr>
        <p:spPr>
          <a:xfrm>
            <a:off x="7315200" y="1691640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获取Word报告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在 data/output/ 目录</a:t>
            </a:r>
            <a:endParaRPr lang="en-US" sz="11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查看生成的报告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支持的检测数据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6" name="Text 4"/>
          <p:cNvSpPr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TMB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肿瘤突变负荷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73152" cy="1371600"/>
          </a:xfrm>
          <a:prstGeom prst="rect">
            <a:avLst/>
          </a:prstGeom>
          <a:solidFill>
            <a:srgbClr val="F0B857"/>
          </a:solidFill>
        </p:spPr>
      </p:sp>
      <p:sp>
        <p:nvSpPr>
          <p:cNvPr id="10" name="Text 8"/>
          <p:cNvSpPr/>
          <p:nvPr/>
        </p:nvSpPr>
        <p:spPr>
          <a:xfrm>
            <a:off x="356616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MSI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0574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微卫星不稳定性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73152" cy="137160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14" name="Text 12"/>
          <p:cNvSpPr/>
          <p:nvPr/>
        </p:nvSpPr>
        <p:spPr>
          <a:xfrm>
            <a:off x="6492240" y="1554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Variations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基因变异 (56+类型)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F0B857"/>
          </a:solidFill>
        </p:spPr>
      </p:sp>
      <p:sp>
        <p:nvSpPr>
          <p:cNvPr id="18" name="Text 16"/>
          <p:cNvSpPr/>
          <p:nvPr/>
        </p:nvSpPr>
        <p:spPr>
          <a:xfrm>
            <a:off x="640080" y="31089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拷贝数变异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834640"/>
            <a:ext cx="73152" cy="137160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22" name="Text 20"/>
          <p:cNvSpPr/>
          <p:nvPr/>
        </p:nvSpPr>
        <p:spPr>
          <a:xfrm>
            <a:off x="3566160" y="31089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36118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融合基因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834640"/>
            <a:ext cx="73152" cy="1371600"/>
          </a:xfrm>
          <a:prstGeom prst="rect">
            <a:avLst/>
          </a:prstGeom>
          <a:solidFill>
            <a:srgbClr val="F0B857"/>
          </a:solidFill>
        </p:spPr>
      </p:sp>
      <p:sp>
        <p:nvSpPr>
          <p:cNvPr id="26" name="Text 24"/>
          <p:cNvSpPr/>
          <p:nvPr/>
        </p:nvSpPr>
        <p:spPr>
          <a:xfrm>
            <a:off x="6492240" y="31089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3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HLA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6118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HLA分型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D67052"/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开启自动化之旅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提高效率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减少错误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029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4A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 标准化输出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谢谢聆听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欢迎提问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WPS 演示</Application>
  <PresentationFormat>On-screen Show (16:9)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Georgia</vt:lpstr>
      <vt:lpstr>Georgia</vt:lpstr>
      <vt:lpstr>Georgia</vt:lpstr>
      <vt:lpstr>Arial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肠癌基因检测报告自动化生成系统</dc:title>
  <dc:creator>Claude Code</dc:creator>
  <dc:subject>Excel到Word智能报告生成</dc:subject>
  <cp:lastModifiedBy>Phomics</cp:lastModifiedBy>
  <cp:revision>2</cp:revision>
  <dcterms:created xsi:type="dcterms:W3CDTF">2025-12-09T01:19:00Z</dcterms:created>
  <dcterms:modified xsi:type="dcterms:W3CDTF">2025-12-09T01:33:12Z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3461551B62A849A3AD3818A14F09FBC6</vt:lpwstr>
  </property>
  <property fmtid="{D5CDD505-2E9C-101B-9397-08002B2CF9AE}" pid="3" name="KSOProductBuildVer">
    <vt:lpwstr>2052-11.8.2.10912</vt:lpwstr>
  </property>
</Properties>
</file>