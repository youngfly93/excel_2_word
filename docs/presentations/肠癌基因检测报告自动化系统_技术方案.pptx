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D6705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0" y="137160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肠癌基因检测报告</a:t>
            </a:r>
            <a:endParaRPr lang="en-US" sz="3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自动化生成系统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技术方案详解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3749040"/>
            <a:ext cx="1828800" cy="45720"/>
          </a:xfrm>
          <a:prstGeom prst="rect">
            <a:avLst/>
          </a:prstGeom>
          <a:solidFill>
            <a:srgbClr val="F0B85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4023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→ Word 报告生成管线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70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371600"/>
          </a:xfrm>
          <a:prstGeom prst="rect">
            <a:avLst/>
          </a:prstGeom>
          <a:solidFill>
            <a:srgbClr val="D6705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3.9+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运行时环境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类型注解、异步支持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188720"/>
            <a:ext cx="54864" cy="1371600"/>
          </a:xfrm>
          <a:prstGeom prst="rect">
            <a:avLst/>
          </a:prstGeom>
          <a:solidFill>
            <a:srgbClr val="F0B857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docxtpl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模板引擎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057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python-docx + Jinja2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18872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188720"/>
            <a:ext cx="54864" cy="1371600"/>
          </a:xfrm>
          <a:prstGeom prst="rect">
            <a:avLst/>
          </a:prstGeom>
          <a:solidFill>
            <a:srgbClr val="D67052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325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数据处理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0574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 操作、过滤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743200"/>
            <a:ext cx="54864" cy="1371600"/>
          </a:xfrm>
          <a:prstGeom prst="rect">
            <a:avLst/>
          </a:prstGeom>
          <a:solidFill>
            <a:srgbClr val="F0B857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openpyxl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读取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611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.xlsx 格式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27432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2743200"/>
            <a:ext cx="54864" cy="1371600"/>
          </a:xfrm>
          <a:prstGeom prst="rect">
            <a:avLst/>
          </a:prstGeom>
          <a:solidFill>
            <a:srgbClr val="D67052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PyYAML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0440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配置管理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20440" y="3611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配置文件解析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2743200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2743200"/>
            <a:ext cx="54864" cy="1371600"/>
          </a:xfrm>
          <a:prstGeom prst="rect">
            <a:avLst/>
          </a:prstGeom>
          <a:solidFill>
            <a:srgbClr val="F0B857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46520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框架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46520" y="3611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命令行接口构建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70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数据处理管线 (Pipeline)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371600"/>
            <a:ext cx="548640" cy="548640"/>
          </a:xfrm>
          <a:prstGeom prst="ellipse">
            <a:avLst/>
          </a:prstGeom>
          <a:solidFill>
            <a:srgbClr val="D6705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990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2011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ExcelReader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excel_reader.py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26517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读取多Sheet数据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B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514600" y="118872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71600"/>
            <a:ext cx="548640" cy="548640"/>
          </a:xfrm>
          <a:prstGeom prst="ellipse">
            <a:avLst/>
          </a:prstGeom>
          <a:solidFill>
            <a:srgbClr val="D67052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3990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14600" y="2011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FieldMapper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3317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field_mapper.py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14600" y="26517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字段映射+过滤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B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1371600"/>
            <a:ext cx="548640" cy="548640"/>
          </a:xfrm>
          <a:prstGeom prst="ellipse">
            <a:avLst/>
          </a:prstGeom>
          <a:solidFill>
            <a:srgbClr val="D6705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13990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54880" y="2011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DataCleaner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3317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data_cleaner.py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26517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类型转换+验证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2084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B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995160" y="118872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26680" y="1371600"/>
            <a:ext cx="548640" cy="548640"/>
          </a:xfrm>
          <a:prstGeom prst="ellipse">
            <a:avLst/>
          </a:prstGeom>
          <a:solidFill>
            <a:srgbClr val="D67052"/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139903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95160" y="2011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TemplateRenderer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23317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template_renderer.py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95160" y="26517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Jinja2渲染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383280"/>
            <a:ext cx="8229600" cy="731520"/>
          </a:xfrm>
          <a:prstGeom prst="roundRect">
            <a:avLst>
              <a:gd name="adj" fmla="val 6250"/>
            </a:avLst>
          </a:prstGeom>
          <a:solidFill>
            <a:srgbClr val="F8F6F1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ReportGenerator (report_generator.py) - 管线编排器，协调上述4个组件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70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配置系统 (YAML)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114800" cy="548640"/>
          </a:xfrm>
          <a:prstGeom prst="rect">
            <a:avLst/>
          </a:prstGeom>
          <a:solidFill>
            <a:srgbClr val="2C4A6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mapping.yaml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字段映射配置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3749040" cy="2011680"/>
          </a:xfrm>
          <a:prstGeom prst="roundRect">
            <a:avLst>
              <a:gd name="adj" fmla="val 2273"/>
            </a:avLst>
          </a:prstGeom>
          <a:solidFill>
            <a:srgbClr val="F8F6F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40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synonyms: 同义词列表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数据类型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required: 是否必填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11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default_value: 默认值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97280"/>
            <a:ext cx="4114800" cy="548640"/>
          </a:xfrm>
          <a:prstGeom prst="rect">
            <a:avLst/>
          </a:prstGeom>
          <a:solidFill>
            <a:srgbClr val="2C4A6E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0972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filtering.yaml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737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过滤规则配置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2148840"/>
            <a:ext cx="3749040" cy="2011680"/>
          </a:xfrm>
          <a:prstGeom prst="roundRect">
            <a:avLst>
              <a:gd name="adj" fmla="val 2273"/>
            </a:avLst>
          </a:prstGeom>
          <a:solidFill>
            <a:srgbClr val="F8F6F1"/>
          </a:solidFill>
          <a:ln/>
        </p:spPr>
      </p:sp>
      <p:sp>
        <p:nvSpPr>
          <p:cNvPr id="18" name="Text 16"/>
          <p:cNvSpPr/>
          <p:nvPr/>
        </p:nvSpPr>
        <p:spPr>
          <a:xfrm>
            <a:off x="5166360" y="22402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min_frequency: 5.0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66360" y="2697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significant_keywords: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3154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Missense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3611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Nonsense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70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字段映射机制 (FieldMapper)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列名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0B85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患者姓名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0B85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姓名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0B85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Name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8328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synonyms 配置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1737360"/>
            <a:ext cx="2286000" cy="1645920"/>
          </a:xfrm>
          <a:prstGeom prst="roundRect">
            <a:avLst>
              <a:gd name="adj" fmla="val 2778"/>
            </a:avLst>
          </a:prstGeom>
          <a:solidFill>
            <a:srgbClr val="F8F6F1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82880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patient_name: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synonyms: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"患者姓名"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"姓名"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"Patient Name"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9360" y="1188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模板变量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1737360"/>
            <a:ext cx="2286000" cy="640080"/>
          </a:xfrm>
          <a:prstGeom prst="roundRect">
            <a:avLst>
              <a:gd name="adj" fmla="val 7143"/>
            </a:avLst>
          </a:prstGeom>
          <a:solidFill>
            <a:srgbClr val="D67052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737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patient_name }}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关键特性: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大小写不敏感匹配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4023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空格自动规范化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389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支持类型转换 (string/int/float/date)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4389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缺失字段默认值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70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变异过滤逻辑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8F6F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保留条件 = (Freq &gt;= min_frequency) OR (Function in significant_keywords)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逻辑: 满足任一条件即保留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77440"/>
            <a:ext cx="3931920" cy="457200"/>
          </a:xfrm>
          <a:prstGeom prst="rect">
            <a:avLst/>
          </a:prstGeom>
          <a:solidFill>
            <a:srgbClr val="F0B85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77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 1: 频率阈值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Freq(%) &gt;= 5.0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配置项: min_frequency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可调整: 3.0 (更多) / 10.0 (更少)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3774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2377440"/>
            <a:ext cx="3931920" cy="457200"/>
          </a:xfrm>
          <a:prstGeom prst="rect">
            <a:avLst/>
          </a:prstGeom>
          <a:solidFill>
            <a:srgbClr val="D67052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377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 2: 临床显著性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9260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匹配: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Missense / Nonsense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Frameshift / Splice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CDS-indel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4389120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2C4A6E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示例: 131 行原始数据 → 56 行通过过滤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70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模板渲染 (Jinja2)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docxtpl 工作流程: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加载 .docx 模板文件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解析 Jinja2 占位符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注入 context 数据字典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渲染并保存新文档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模板语法示例: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4114800" cy="2011680"/>
          </a:xfrm>
          <a:prstGeom prst="roundRect">
            <a:avLst>
              <a:gd name="adj" fmla="val 2273"/>
            </a:avLst>
          </a:prstGeom>
          <a:solidFill>
            <a:srgbClr val="F8F6F1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50876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变量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patient_name }}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循环 (表格行)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row in variants %}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row.Gene_Symbol }}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endfor %}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支持的数据表: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77640"/>
            <a:ext cx="4114800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2C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977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variants  ←  Variations  (变异明细)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3977640"/>
            <a:ext cx="4114800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2C4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39776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cnv  ←  Cnv  (拷贝数变异)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480560"/>
            <a:ext cx="4114800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2C4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480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fusion  ←  Fusion  (融合基因)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4480560"/>
            <a:ext cx="4114800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2C4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44805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hla  ←  HLA  (HLA分型)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70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数据提取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支持的 Sheet: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71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1463040"/>
            <a:ext cx="548640" cy="274320"/>
          </a:xfrm>
          <a:prstGeom prst="roundRect">
            <a:avLst>
              <a:gd name="adj" fmla="val 10000"/>
            </a:avLst>
          </a:prstGeom>
          <a:solidFill>
            <a:srgbClr val="F0B857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单值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质控数据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3716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548640" cy="274320"/>
          </a:xfrm>
          <a:prstGeom prst="roundRect">
            <a:avLst>
              <a:gd name="adj" fmla="val 10000"/>
            </a:avLst>
          </a:prstGeom>
          <a:solidFill>
            <a:srgbClr val="D67052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表格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675120" y="1371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变异明细 (自动过滤)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92024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2011680"/>
            <a:ext cx="548640" cy="274320"/>
          </a:xfrm>
          <a:prstGeom prst="roundRect">
            <a:avLst>
              <a:gd name="adj" fmla="val 10000"/>
            </a:avLst>
          </a:prstGeom>
          <a:solidFill>
            <a:srgbClr val="F0B857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单值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86000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肿瘤突变负荷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92024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Msisensor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2011680"/>
            <a:ext cx="548640" cy="274320"/>
          </a:xfrm>
          <a:prstGeom prst="roundRect">
            <a:avLst>
              <a:gd name="adj" fmla="val 10000"/>
            </a:avLst>
          </a:prstGeom>
          <a:solidFill>
            <a:srgbClr val="F0B857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2011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单值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675120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微卫星不稳定性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46888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24688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HLA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645920" y="2560320"/>
            <a:ext cx="548640" cy="274320"/>
          </a:xfrm>
          <a:prstGeom prst="roundRect">
            <a:avLst>
              <a:gd name="adj" fmla="val 10000"/>
            </a:avLst>
          </a:prstGeom>
          <a:solidFill>
            <a:srgbClr val="D67052"/>
          </a:solidFill>
          <a:ln/>
        </p:spPr>
      </p:sp>
      <p:sp>
        <p:nvSpPr>
          <p:cNvPr id="28" name="Text 26"/>
          <p:cNvSpPr/>
          <p:nvPr/>
        </p:nvSpPr>
        <p:spPr>
          <a:xfrm>
            <a:off x="1645920" y="2560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28600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HLA 分型结果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46888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24688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Cnv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2560320"/>
            <a:ext cx="548640" cy="274320"/>
          </a:xfrm>
          <a:prstGeom prst="roundRect">
            <a:avLst>
              <a:gd name="adj" fmla="val 10000"/>
            </a:avLst>
          </a:prstGeom>
          <a:solidFill>
            <a:srgbClr val="D67052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2560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表格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75120" y="2468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拷贝数变异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01752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3017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645920" y="3108960"/>
            <a:ext cx="548640" cy="274320"/>
          </a:xfrm>
          <a:prstGeom prst="roundRect">
            <a:avLst>
              <a:gd name="adj" fmla="val 10000"/>
            </a:avLst>
          </a:prstGeom>
          <a:solidFill>
            <a:srgbClr val="D67052"/>
          </a:solidFill>
          <a:ln/>
        </p:spPr>
      </p:sp>
      <p:sp>
        <p:nvSpPr>
          <p:cNvPr id="38" name="Text 36"/>
          <p:cNvSpPr/>
          <p:nvPr/>
        </p:nvSpPr>
        <p:spPr>
          <a:xfrm>
            <a:off x="1645920" y="3108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表格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28600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融合基因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01752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37760" y="3017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CtDrug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035040" y="3108960"/>
            <a:ext cx="548640" cy="274320"/>
          </a:xfrm>
          <a:prstGeom prst="roundRect">
            <a:avLst>
              <a:gd name="adj" fmla="val 10000"/>
            </a:avLst>
          </a:prstGeom>
          <a:solidFill>
            <a:srgbClr val="D67052"/>
          </a:solidFill>
          <a:ln/>
        </p:spPr>
      </p:sp>
      <p:sp>
        <p:nvSpPr>
          <p:cNvPr id="43" name="Text 41"/>
          <p:cNvSpPr/>
          <p:nvPr/>
        </p:nvSpPr>
        <p:spPr>
          <a:xfrm>
            <a:off x="6035040" y="31089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表格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7512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药物-基因型关系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3749040"/>
            <a:ext cx="8229600" cy="1005840"/>
          </a:xfrm>
          <a:prstGeom prst="roundRect">
            <a:avLst>
              <a:gd name="adj" fmla="val 4545"/>
            </a:avLst>
          </a:prstGeom>
          <a:solidFill>
            <a:srgbClr val="F8F6F1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特殊解析逻辑: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0080" y="41605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TMB: 从第2行提取数值，格式化为 "X.XX Muts/Mb"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MSI: 从 Msisensor sheet 提取状态 (MSS/MSI-L/MSI-H)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HLA: 特殊3行结构，每行2个等位基因 + QC数据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70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项目目录结构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749040"/>
          </a:xfrm>
          <a:prstGeom prst="roundRect">
            <a:avLst>
              <a:gd name="adj" fmla="val 1220"/>
            </a:avLst>
          </a:prstGeom>
          <a:solidFill>
            <a:srgbClr val="F8F6F1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3657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reportgen/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core/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excel_reader.py      # 读取Excel多Sheet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field_mapper.py      # 字段映射+过滤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data_cleaner.py      # 类型转换验证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template_renderer.py # Jinja2渲染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report_generator.py  # 管线编排入口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models/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excel_data.py        # Excel数据模型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report_data.py       # 报告数据模型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utils/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logger.py            # 结构化日志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cli.py                   # 命令行接口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1828800"/>
          </a:xfrm>
          <a:prstGeom prst="roundRect">
            <a:avLst>
              <a:gd name="adj" fmla="val 2500"/>
            </a:avLst>
          </a:prstGeom>
          <a:solidFill>
            <a:srgbClr val="F8F6F1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10972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mapping.yaml        # 字段映射配置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filtering.yaml      # 过滤规则配置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patient_info.yaml   # 患者信息库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project_types.yaml  # 项目类型识别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settings.yaml       # 全局设置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54880" y="3017520"/>
            <a:ext cx="3931920" cy="1737360"/>
          </a:xfrm>
          <a:prstGeom prst="roundRect">
            <a:avLst>
              <a:gd name="adj" fmla="val 2632"/>
            </a:avLst>
          </a:prstGeom>
          <a:solidFill>
            <a:srgbClr val="F8F6F1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31089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input/    # 放置Excel源文件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output/   # 生成的Word报告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logs/     # JSON格式日志</a:t>
            </a: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3D3D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    # Word模板(.docx)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705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使用方法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生成报告命令: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280160"/>
          </a:xfrm>
          <a:prstGeom prst="roundRect">
            <a:avLst>
              <a:gd name="adj" fmla="val 3571"/>
            </a:avLst>
          </a:prstGeom>
          <a:solidFill>
            <a:srgbClr val="2C4A6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reportgen.cli generate \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--excel data/input/sample.xlsx \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--template templates/template.docx \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--output data/output/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参数说明: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82296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--excel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结果文件路径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457200"/>
          </a:xfrm>
          <a:prstGeom prst="roundRect">
            <a:avLst>
              <a:gd name="adj" fmla="val 6000"/>
            </a:avLst>
          </a:prstGeom>
          <a:solidFill>
            <a:srgbClr val="F8F6F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--template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模板文件路径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97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4A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--output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4297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输出目录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肠癌基因检测报告自动化生成系统 - 技术方案</dc:title>
  <dc:subject>PptxGenJS Presentation</dc:subject>
  <dc:creator>Claude Code</dc:creator>
  <cp:lastModifiedBy>Claude Code</cp:lastModifiedBy>
  <cp:revision>1</cp:revision>
  <dcterms:created xsi:type="dcterms:W3CDTF">2025-12-09T02:30:49Z</dcterms:created>
  <dcterms:modified xsi:type="dcterms:W3CDTF">2025-12-09T02:30:49Z</dcterms:modified>
</cp:coreProperties>
</file>